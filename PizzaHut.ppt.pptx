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7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7" r:id="rId16"/>
    <p:sldId id="278" r:id="rId17"/>
    <p:sldId id="275" r:id="rId18"/>
  </p:sldIdLst>
  <p:sldSz cx="18288000" cy="10287000"/>
  <p:notesSz cx="6858000" cy="9144000"/>
  <p:embeddedFontLst>
    <p:embeddedFont>
      <p:font typeface="Heading Now 71-78 Bold" panose="020B0604020202020204" charset="0"/>
      <p:regular r:id="rId20"/>
    </p:embeddedFont>
    <p:embeddedFont>
      <p:font typeface="Times New Roman Bold" panose="02020803070505020304" pitchFamily="18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76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3F5A9-68FD-4662-99F9-13B7CA18FE0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4343D-FF3F-46CE-9589-83CAFF7B7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6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673D-6699-4059-8DE1-061AA7D1E1F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455-C1F4-4486-9A37-0663429833C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EF891-A8C7-430B-BEB3-7E719FACA84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67506-7E04-4323-9104-BA890D78123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F6FD9-4315-42BD-9E01-D470BEC56661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04633-87B7-427A-BD71-124A38716546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0D7-1E86-4755-84A9-2284CF74ED69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29437-C8D6-4DD3-B5E4-D58E7C7C0321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333F8-155C-436D-B3C0-B70B56A8F7FB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20D28-853A-4736-ACB3-FD0AD97E3E84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C8E02-82E5-456E-9E85-908666AFB400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61011-51CB-4714-9310-44D99532412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Divyani Patil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CE2B1E-0F11-72CD-C08F-693EBB533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26"/>
            <a:ext cx="18369643" cy="10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DB9079-CFBF-605F-E139-0E0556092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2600" y="1257300"/>
            <a:ext cx="13563600" cy="3505200"/>
          </a:xfrm>
        </p:spPr>
        <p:txBody>
          <a:bodyPr>
            <a:norm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Pizza Hut Sales Analysis Using SQL</a:t>
            </a:r>
            <a:br>
              <a:rPr lang="en-US" sz="6600" b="1">
                <a:solidFill>
                  <a:schemeClr val="bg1"/>
                </a:solidFill>
              </a:rPr>
            </a:b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175FF-9E5A-7A65-1194-368D8B59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0" y="3162300"/>
            <a:ext cx="12039600" cy="2476500"/>
          </a:xfrm>
        </p:spPr>
        <p:txBody>
          <a:bodyPr>
            <a:normAutofit/>
          </a:bodyPr>
          <a:lstStyle/>
          <a:p>
            <a:r>
              <a:rPr lang="en-US" sz="4000"/>
              <a:t>Database Analytics Project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08006B-F4FD-427B-A1A6-BA0D095F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CFB12F-E12B-631A-5926-0D0C8317C179}"/>
              </a:ext>
            </a:extLst>
          </p:cNvPr>
          <p:cNvSpPr/>
          <p:nvPr/>
        </p:nvSpPr>
        <p:spPr>
          <a:xfrm>
            <a:off x="13411200" y="7543800"/>
            <a:ext cx="4191000" cy="24003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/>
              <a:t>-Divyani Patil</a:t>
            </a:r>
          </a:p>
          <a:p>
            <a:pPr algn="ctr"/>
            <a:r>
              <a:rPr lang="en-US" sz="2400"/>
              <a:t>Tool Used:</a:t>
            </a:r>
          </a:p>
          <a:p>
            <a:pPr algn="ctr"/>
            <a:r>
              <a:rPr lang="en-US" sz="2400"/>
              <a:t>MySql</a:t>
            </a:r>
          </a:p>
          <a:p>
            <a:pPr algn="ctr"/>
            <a:r>
              <a:rPr lang="en-US" sz="2400"/>
              <a:t>Sql</a:t>
            </a:r>
          </a:p>
          <a:p>
            <a:pPr algn="ctr"/>
            <a:r>
              <a:rPr lang="en-US" sz="2400"/>
              <a:t>Microsoft PowerPoint</a:t>
            </a:r>
          </a:p>
          <a:p>
            <a:pPr algn="ctr"/>
            <a:r>
              <a:rPr lang="en-US" sz="240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89963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227368" y="2393822"/>
            <a:ext cx="9988396" cy="3441947"/>
          </a:xfrm>
          <a:custGeom>
            <a:avLst/>
            <a:gdLst/>
            <a:ahLst/>
            <a:cxnLst/>
            <a:rect l="l" t="t" r="r" b="b"/>
            <a:pathLst>
              <a:path w="9988396" h="3441947">
                <a:moveTo>
                  <a:pt x="0" y="0"/>
                </a:moveTo>
                <a:lnTo>
                  <a:pt x="9988396" y="0"/>
                </a:lnTo>
                <a:lnTo>
                  <a:pt x="9988396" y="3441947"/>
                </a:lnTo>
                <a:lnTo>
                  <a:pt x="0" y="3441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558438" y="6503080"/>
            <a:ext cx="5745925" cy="2755220"/>
          </a:xfrm>
          <a:custGeom>
            <a:avLst/>
            <a:gdLst/>
            <a:ahLst/>
            <a:cxnLst/>
            <a:rect l="l" t="t" r="r" b="b"/>
            <a:pathLst>
              <a:path w="5745925" h="2755220">
                <a:moveTo>
                  <a:pt x="0" y="0"/>
                </a:moveTo>
                <a:lnTo>
                  <a:pt x="5745925" y="0"/>
                </a:lnTo>
                <a:lnTo>
                  <a:pt x="5745925" y="2755220"/>
                </a:lnTo>
                <a:lnTo>
                  <a:pt x="0" y="2755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695" b="-1169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541836"/>
            <a:ext cx="17637893" cy="155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8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1.RETRIEVE THE TOTAL NUMBER OF ORDERS PLACED.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6A4C0-094B-5B4C-CBFE-77622E0D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77C2A940-2339-27F4-CCDF-522B43829A90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286830" y="2046536"/>
            <a:ext cx="10986492" cy="4307204"/>
          </a:xfrm>
          <a:custGeom>
            <a:avLst/>
            <a:gdLst/>
            <a:ahLst/>
            <a:cxnLst/>
            <a:rect l="l" t="t" r="r" b="b"/>
            <a:pathLst>
              <a:path w="10986492" h="4307204">
                <a:moveTo>
                  <a:pt x="0" y="0"/>
                </a:moveTo>
                <a:lnTo>
                  <a:pt x="10986492" y="0"/>
                </a:lnTo>
                <a:lnTo>
                  <a:pt x="10986492" y="4307204"/>
                </a:lnTo>
                <a:lnTo>
                  <a:pt x="0" y="430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60106" y="6661979"/>
            <a:ext cx="6367788" cy="3271524"/>
          </a:xfrm>
          <a:custGeom>
            <a:avLst/>
            <a:gdLst/>
            <a:ahLst/>
            <a:cxnLst/>
            <a:rect l="l" t="t" r="r" b="b"/>
            <a:pathLst>
              <a:path w="6367788" h="3271524">
                <a:moveTo>
                  <a:pt x="0" y="0"/>
                </a:moveTo>
                <a:lnTo>
                  <a:pt x="6367788" y="0"/>
                </a:lnTo>
                <a:lnTo>
                  <a:pt x="6367788" y="3271524"/>
                </a:lnTo>
                <a:lnTo>
                  <a:pt x="0" y="3271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541836"/>
            <a:ext cx="17637893" cy="155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8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2.CALCULATE THE TOTAL REVENUE GENERATED FROM PIZZA SALES.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2A359-AFBF-5CA2-729D-14826B81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E2E38DA7-AD6B-4737-64B2-286FC3EC76AF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016353" y="2042865"/>
            <a:ext cx="11256970" cy="4310875"/>
          </a:xfrm>
          <a:custGeom>
            <a:avLst/>
            <a:gdLst/>
            <a:ahLst/>
            <a:cxnLst/>
            <a:rect l="l" t="t" r="r" b="b"/>
            <a:pathLst>
              <a:path w="11256970" h="4310875">
                <a:moveTo>
                  <a:pt x="0" y="0"/>
                </a:moveTo>
                <a:lnTo>
                  <a:pt x="11256969" y="0"/>
                </a:lnTo>
                <a:lnTo>
                  <a:pt x="11256969" y="4310875"/>
                </a:lnTo>
                <a:lnTo>
                  <a:pt x="0" y="4310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58753" y="6636539"/>
            <a:ext cx="7972168" cy="3296965"/>
          </a:xfrm>
          <a:custGeom>
            <a:avLst/>
            <a:gdLst/>
            <a:ahLst/>
            <a:cxnLst/>
            <a:rect l="l" t="t" r="r" b="b"/>
            <a:pathLst>
              <a:path w="7972168" h="3296965">
                <a:moveTo>
                  <a:pt x="0" y="0"/>
                </a:moveTo>
                <a:lnTo>
                  <a:pt x="7972169" y="0"/>
                </a:lnTo>
                <a:lnTo>
                  <a:pt x="7972169" y="3296964"/>
                </a:lnTo>
                <a:lnTo>
                  <a:pt x="0" y="329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541836"/>
            <a:ext cx="17637893" cy="155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8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3.IDENTIFY THE HIGHEST-PRICED PIZZA.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0662A-5FD4-AD1E-4C05-A730103D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024535D5-946F-3322-B75F-1CD897623E6F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86189" y="2092973"/>
            <a:ext cx="11591233" cy="4998055"/>
          </a:xfrm>
          <a:custGeom>
            <a:avLst/>
            <a:gdLst/>
            <a:ahLst/>
            <a:cxnLst/>
            <a:rect l="l" t="t" r="r" b="b"/>
            <a:pathLst>
              <a:path w="11591233" h="4998055">
                <a:moveTo>
                  <a:pt x="0" y="0"/>
                </a:moveTo>
                <a:lnTo>
                  <a:pt x="11591234" y="0"/>
                </a:lnTo>
                <a:lnTo>
                  <a:pt x="11591234" y="4998055"/>
                </a:lnTo>
                <a:lnTo>
                  <a:pt x="0" y="499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73588" y="7251683"/>
            <a:ext cx="7816437" cy="2911492"/>
          </a:xfrm>
          <a:custGeom>
            <a:avLst/>
            <a:gdLst/>
            <a:ahLst/>
            <a:cxnLst/>
            <a:rect l="l" t="t" r="r" b="b"/>
            <a:pathLst>
              <a:path w="7816437" h="2911492">
                <a:moveTo>
                  <a:pt x="0" y="0"/>
                </a:moveTo>
                <a:lnTo>
                  <a:pt x="7816437" y="0"/>
                </a:lnTo>
                <a:lnTo>
                  <a:pt x="7816437" y="2911492"/>
                </a:lnTo>
                <a:lnTo>
                  <a:pt x="0" y="2911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541836"/>
            <a:ext cx="17637893" cy="155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8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4.IDENTIFY THE MOST COMMON PIZZA SIZE ORDERED.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D1AAE-AB76-B697-9A51-62C96F67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B2D3717-CADA-8BE2-00EA-BF363BDD1464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6726" y="2138974"/>
            <a:ext cx="13380211" cy="4214767"/>
          </a:xfrm>
          <a:custGeom>
            <a:avLst/>
            <a:gdLst/>
            <a:ahLst/>
            <a:cxnLst/>
            <a:rect l="l" t="t" r="r" b="b"/>
            <a:pathLst>
              <a:path w="13380211" h="4214767">
                <a:moveTo>
                  <a:pt x="0" y="0"/>
                </a:moveTo>
                <a:lnTo>
                  <a:pt x="13380211" y="0"/>
                </a:lnTo>
                <a:lnTo>
                  <a:pt x="13380211" y="4214766"/>
                </a:lnTo>
                <a:lnTo>
                  <a:pt x="0" y="4214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4405" y="541836"/>
            <a:ext cx="17637893" cy="1503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</a:pPr>
            <a:r>
              <a:rPr lang="en-US" sz="66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5.LIST THE TOP 5 MOST ORDERED PIZZA TYPES ALONG WITH THEIR QUANTITIES.</a:t>
            </a:r>
          </a:p>
        </p:txBody>
      </p:sp>
      <p:sp>
        <p:nvSpPr>
          <p:cNvPr id="5" name="Freeform 5"/>
          <p:cNvSpPr/>
          <p:nvPr/>
        </p:nvSpPr>
        <p:spPr>
          <a:xfrm>
            <a:off x="4402829" y="6606382"/>
            <a:ext cx="7334511" cy="3327122"/>
          </a:xfrm>
          <a:custGeom>
            <a:avLst/>
            <a:gdLst/>
            <a:ahLst/>
            <a:cxnLst/>
            <a:rect l="l" t="t" r="r" b="b"/>
            <a:pathLst>
              <a:path w="7334511" h="3327122">
                <a:moveTo>
                  <a:pt x="0" y="0"/>
                </a:moveTo>
                <a:lnTo>
                  <a:pt x="7334511" y="0"/>
                </a:lnTo>
                <a:lnTo>
                  <a:pt x="7334511" y="3327121"/>
                </a:lnTo>
                <a:lnTo>
                  <a:pt x="0" y="3327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41" b="-5241"/>
            </a:stretch>
          </a:blipFill>
        </p:spPr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457F7-EFCF-21E6-B4E8-CEFAEAD6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7F396742-7B63-2482-95AB-EA06A7F523C7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54405" y="1672816"/>
            <a:ext cx="9721309" cy="5635360"/>
          </a:xfrm>
          <a:custGeom>
            <a:avLst/>
            <a:gdLst/>
            <a:ahLst/>
            <a:cxnLst/>
            <a:rect l="l" t="t" r="r" b="b"/>
            <a:pathLst>
              <a:path w="9721309" h="5635360">
                <a:moveTo>
                  <a:pt x="0" y="0"/>
                </a:moveTo>
                <a:lnTo>
                  <a:pt x="9721309" y="0"/>
                </a:lnTo>
                <a:lnTo>
                  <a:pt x="9721309" y="5635361"/>
                </a:lnTo>
                <a:lnTo>
                  <a:pt x="0" y="5635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02824" y="6179725"/>
            <a:ext cx="5660778" cy="3753778"/>
          </a:xfrm>
          <a:custGeom>
            <a:avLst/>
            <a:gdLst/>
            <a:ahLst/>
            <a:cxnLst/>
            <a:rect l="l" t="t" r="r" b="b"/>
            <a:pathLst>
              <a:path w="5660778" h="3753778">
                <a:moveTo>
                  <a:pt x="0" y="0"/>
                </a:moveTo>
                <a:lnTo>
                  <a:pt x="5660778" y="0"/>
                </a:lnTo>
                <a:lnTo>
                  <a:pt x="5660778" y="3753778"/>
                </a:lnTo>
                <a:lnTo>
                  <a:pt x="0" y="3753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494211"/>
            <a:ext cx="17637893" cy="117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8"/>
              </a:lnSpc>
            </a:pPr>
            <a:r>
              <a:rPr lang="en-US" sz="52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6.JOIN THE NECESSARY TABLES TO FIND THE TOTAL QUANTITY OF EACH PIZZA CATEGORY ORDERED.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32FCE-840D-44A0-FAC8-24DDD34F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344126B-FFA2-B50A-C593-1886C76DDD00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02005" y="2182066"/>
            <a:ext cx="10865057" cy="2923334"/>
          </a:xfrm>
          <a:custGeom>
            <a:avLst/>
            <a:gdLst/>
            <a:ahLst/>
            <a:cxnLst/>
            <a:rect l="l" t="t" r="r" b="b"/>
            <a:pathLst>
              <a:path w="10865057" h="2923334">
                <a:moveTo>
                  <a:pt x="0" y="0"/>
                </a:moveTo>
                <a:lnTo>
                  <a:pt x="10865057" y="0"/>
                </a:lnTo>
                <a:lnTo>
                  <a:pt x="10865057" y="2923334"/>
                </a:lnTo>
                <a:lnTo>
                  <a:pt x="0" y="292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98604" y="2103881"/>
            <a:ext cx="3389718" cy="7599964"/>
          </a:xfrm>
          <a:custGeom>
            <a:avLst/>
            <a:gdLst/>
            <a:ahLst/>
            <a:cxnLst/>
            <a:rect l="l" t="t" r="r" b="b"/>
            <a:pathLst>
              <a:path w="3389718" h="7599964">
                <a:moveTo>
                  <a:pt x="0" y="0"/>
                </a:moveTo>
                <a:lnTo>
                  <a:pt x="3389718" y="0"/>
                </a:lnTo>
                <a:lnTo>
                  <a:pt x="3389718" y="7599963"/>
                </a:lnTo>
                <a:lnTo>
                  <a:pt x="0" y="7599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503736"/>
            <a:ext cx="17637893" cy="124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4"/>
              </a:lnSpc>
            </a:pPr>
            <a:r>
              <a:rPr lang="en-US" sz="55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7.DETERMINE THE DISTRIBUTION OF ORDERS BY HOUR OF THE DAY.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4B0D-2AE8-BBE0-4349-8374ABC6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63" y="9568378"/>
            <a:ext cx="2895600" cy="365125"/>
          </a:xfrm>
        </p:spPr>
        <p:txBody>
          <a:bodyPr/>
          <a:lstStyle/>
          <a:p>
            <a:r>
              <a:rPr lang="en-US"/>
              <a:t>Divyani Patil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75A9CD-2A61-1850-9D1A-D7EE39E52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687" y="5391513"/>
            <a:ext cx="6134956" cy="3886742"/>
          </a:xfrm>
          <a:prstGeom prst="rect">
            <a:avLst/>
          </a:prstGeom>
        </p:spPr>
      </p:pic>
      <p:sp>
        <p:nvSpPr>
          <p:cNvPr id="12" name="Freeform 2">
            <a:extLst>
              <a:ext uri="{FF2B5EF4-FFF2-40B4-BE49-F238E27FC236}">
                <a16:creationId xmlns:a16="http://schemas.microsoft.com/office/drawing/2014/main" id="{6CC147F6-09BF-3E1E-3BE0-C12A2E8AB517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54405" y="2248819"/>
            <a:ext cx="7894498" cy="3736607"/>
          </a:xfrm>
          <a:custGeom>
            <a:avLst/>
            <a:gdLst/>
            <a:ahLst/>
            <a:cxnLst/>
            <a:rect l="l" t="t" r="r" b="b"/>
            <a:pathLst>
              <a:path w="7894498" h="3736607">
                <a:moveTo>
                  <a:pt x="0" y="0"/>
                </a:moveTo>
                <a:lnTo>
                  <a:pt x="7894498" y="0"/>
                </a:lnTo>
                <a:lnTo>
                  <a:pt x="7894498" y="3736607"/>
                </a:lnTo>
                <a:lnTo>
                  <a:pt x="0" y="3736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83096" y="2248819"/>
            <a:ext cx="5790226" cy="4993191"/>
          </a:xfrm>
          <a:custGeom>
            <a:avLst/>
            <a:gdLst/>
            <a:ahLst/>
            <a:cxnLst/>
            <a:rect l="l" t="t" r="r" b="b"/>
            <a:pathLst>
              <a:path w="5790226" h="4993191">
                <a:moveTo>
                  <a:pt x="0" y="0"/>
                </a:moveTo>
                <a:lnTo>
                  <a:pt x="5790226" y="0"/>
                </a:lnTo>
                <a:lnTo>
                  <a:pt x="5790226" y="4993191"/>
                </a:lnTo>
                <a:lnTo>
                  <a:pt x="0" y="4993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503736"/>
            <a:ext cx="17637893" cy="124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4"/>
              </a:lnSpc>
            </a:pPr>
            <a:r>
              <a:rPr lang="en-US" sz="55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8.JOIN RELEVANT TABLES TO FIND THE CATEGORY-WISE DISTRIBUTION OF PIZZAS.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05BA3-42D4-7762-ECD2-2538B565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13D69B-D44C-D90C-1A10-088B8D6FD744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972063" y="1847363"/>
            <a:ext cx="11301259" cy="4506377"/>
          </a:xfrm>
          <a:custGeom>
            <a:avLst/>
            <a:gdLst/>
            <a:ahLst/>
            <a:cxnLst/>
            <a:rect l="l" t="t" r="r" b="b"/>
            <a:pathLst>
              <a:path w="11301259" h="4506377">
                <a:moveTo>
                  <a:pt x="0" y="0"/>
                </a:moveTo>
                <a:lnTo>
                  <a:pt x="11301259" y="0"/>
                </a:lnTo>
                <a:lnTo>
                  <a:pt x="11301259" y="4506377"/>
                </a:lnTo>
                <a:lnTo>
                  <a:pt x="0" y="450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91495" y="6601390"/>
            <a:ext cx="7305011" cy="3010550"/>
          </a:xfrm>
          <a:custGeom>
            <a:avLst/>
            <a:gdLst/>
            <a:ahLst/>
            <a:cxnLst/>
            <a:rect l="l" t="t" r="r" b="b"/>
            <a:pathLst>
              <a:path w="7305011" h="3010550">
                <a:moveTo>
                  <a:pt x="0" y="0"/>
                </a:moveTo>
                <a:lnTo>
                  <a:pt x="7305010" y="0"/>
                </a:lnTo>
                <a:lnTo>
                  <a:pt x="7305010" y="3010550"/>
                </a:lnTo>
                <a:lnTo>
                  <a:pt x="0" y="3010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484686"/>
            <a:ext cx="17637893" cy="111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</a:pPr>
            <a:r>
              <a:rPr lang="en-US" sz="49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9.GROUP THE ORDERS BY DATE AND CALCULATE THE AVERAGE NUMBER OF PIZZAS ORDERED PER DAY.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42F2-B1E5-C38C-9D10-608FA6F5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D513A83C-2E54-40C0-2AB5-A4245E2A9117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55179" y="1593917"/>
            <a:ext cx="9488378" cy="5332709"/>
          </a:xfrm>
          <a:custGeom>
            <a:avLst/>
            <a:gdLst/>
            <a:ahLst/>
            <a:cxnLst/>
            <a:rect l="l" t="t" r="r" b="b"/>
            <a:pathLst>
              <a:path w="9488378" h="5332709">
                <a:moveTo>
                  <a:pt x="0" y="0"/>
                </a:moveTo>
                <a:lnTo>
                  <a:pt x="9488378" y="0"/>
                </a:lnTo>
                <a:lnTo>
                  <a:pt x="9488378" y="5332708"/>
                </a:lnTo>
                <a:lnTo>
                  <a:pt x="0" y="5332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91987" y="7077245"/>
            <a:ext cx="8805941" cy="3027709"/>
          </a:xfrm>
          <a:custGeom>
            <a:avLst/>
            <a:gdLst/>
            <a:ahLst/>
            <a:cxnLst/>
            <a:rect l="l" t="t" r="r" b="b"/>
            <a:pathLst>
              <a:path w="8805941" h="3027709">
                <a:moveTo>
                  <a:pt x="0" y="0"/>
                </a:moveTo>
                <a:lnTo>
                  <a:pt x="8805942" y="0"/>
                </a:lnTo>
                <a:lnTo>
                  <a:pt x="8805942" y="3027708"/>
                </a:lnTo>
                <a:lnTo>
                  <a:pt x="0" y="3027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484686"/>
            <a:ext cx="17637893" cy="121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53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10.DETERMINE THE TOP 3 MOST ORDERED PIZZA TYPES BASED ON REVENUE.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DB64C-6890-9057-08FE-980F7905B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1A07EE77-138A-E8BB-63F9-D080DC4DB806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4405" y="1696777"/>
            <a:ext cx="8124100" cy="5860882"/>
          </a:xfrm>
          <a:custGeom>
            <a:avLst/>
            <a:gdLst/>
            <a:ahLst/>
            <a:cxnLst/>
            <a:rect l="l" t="t" r="r" b="b"/>
            <a:pathLst>
              <a:path w="8124100" h="5860882">
                <a:moveTo>
                  <a:pt x="0" y="0"/>
                </a:moveTo>
                <a:lnTo>
                  <a:pt x="8124100" y="0"/>
                </a:lnTo>
                <a:lnTo>
                  <a:pt x="8124100" y="5860882"/>
                </a:lnTo>
                <a:lnTo>
                  <a:pt x="0" y="5860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42397" y="6353740"/>
            <a:ext cx="7745519" cy="3433581"/>
          </a:xfrm>
          <a:custGeom>
            <a:avLst/>
            <a:gdLst/>
            <a:ahLst/>
            <a:cxnLst/>
            <a:rect l="l" t="t" r="r" b="b"/>
            <a:pathLst>
              <a:path w="7745519" h="3433581">
                <a:moveTo>
                  <a:pt x="0" y="0"/>
                </a:moveTo>
                <a:lnTo>
                  <a:pt x="7745519" y="0"/>
                </a:lnTo>
                <a:lnTo>
                  <a:pt x="7745519" y="3433581"/>
                </a:lnTo>
                <a:lnTo>
                  <a:pt x="0" y="3433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484686"/>
            <a:ext cx="17637893" cy="121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53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11.CALCULATE THE PERCENTAGE CONTRIBUTION OF EACH PIZZA TYPE TO TOTAL REVENUE.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CDBF6-0BCF-5CD6-4E89-C5F400B7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5E34DA49-046F-F80F-53B5-DD25C5358E15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87BDA12-5BDA-FB22-F4BF-ADF5CCEB4242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54405" y="1787370"/>
            <a:ext cx="11013734" cy="5785304"/>
          </a:xfrm>
          <a:custGeom>
            <a:avLst/>
            <a:gdLst/>
            <a:ahLst/>
            <a:cxnLst/>
            <a:rect l="l" t="t" r="r" b="b"/>
            <a:pathLst>
              <a:path w="11013734" h="5785304">
                <a:moveTo>
                  <a:pt x="0" y="0"/>
                </a:moveTo>
                <a:lnTo>
                  <a:pt x="11013734" y="0"/>
                </a:lnTo>
                <a:lnTo>
                  <a:pt x="11013734" y="5785304"/>
                </a:lnTo>
                <a:lnTo>
                  <a:pt x="0" y="5785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579179" y="1745039"/>
            <a:ext cx="5061447" cy="6773966"/>
          </a:xfrm>
          <a:custGeom>
            <a:avLst/>
            <a:gdLst/>
            <a:ahLst/>
            <a:cxnLst/>
            <a:rect l="l" t="t" r="r" b="b"/>
            <a:pathLst>
              <a:path w="5061447" h="6773966">
                <a:moveTo>
                  <a:pt x="0" y="0"/>
                </a:moveTo>
                <a:lnTo>
                  <a:pt x="5061447" y="0"/>
                </a:lnTo>
                <a:lnTo>
                  <a:pt x="5061447" y="6773966"/>
                </a:lnTo>
                <a:lnTo>
                  <a:pt x="0" y="677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503736"/>
            <a:ext cx="17637893" cy="128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6"/>
              </a:lnSpc>
            </a:pPr>
            <a:r>
              <a:rPr lang="en-US" sz="56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12.ANALYZE THE CUMULATIVE REVENUE GENERATED OVER TIME.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689F6-D4C9-6018-8FE8-B85C5F49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E0AF5DD7-DDCF-A672-E85C-8C756B591D46}"/>
              </a:ext>
            </a:extLst>
          </p:cNvPr>
          <p:cNvSpPr/>
          <p:nvPr/>
        </p:nvSpPr>
        <p:spPr>
          <a:xfrm>
            <a:off x="14588322" y="23241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95702" y="2019300"/>
            <a:ext cx="9360602" cy="5706527"/>
          </a:xfrm>
          <a:custGeom>
            <a:avLst/>
            <a:gdLst/>
            <a:ahLst/>
            <a:cxnLst/>
            <a:rect l="l" t="t" r="r" b="b"/>
            <a:pathLst>
              <a:path w="9360602" h="5706527">
                <a:moveTo>
                  <a:pt x="0" y="0"/>
                </a:moveTo>
                <a:lnTo>
                  <a:pt x="9360602" y="0"/>
                </a:lnTo>
                <a:lnTo>
                  <a:pt x="9360602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834" y="4423713"/>
            <a:ext cx="7080081" cy="5509791"/>
          </a:xfrm>
          <a:custGeom>
            <a:avLst/>
            <a:gdLst/>
            <a:ahLst/>
            <a:cxnLst/>
            <a:rect l="l" t="t" r="r" b="b"/>
            <a:pathLst>
              <a:path w="7080081" h="5509791">
                <a:moveTo>
                  <a:pt x="0" y="0"/>
                </a:moveTo>
                <a:lnTo>
                  <a:pt x="7080081" y="0"/>
                </a:lnTo>
                <a:lnTo>
                  <a:pt x="7080081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4405" y="494211"/>
            <a:ext cx="17637893" cy="172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8"/>
              </a:lnSpc>
            </a:pPr>
            <a:r>
              <a:rPr lang="en-US" sz="52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13.DETERMINE THE TOP 3 MOST ORDERED PIZZA TYPES BASED ON REVENUE FOR EACH PIZZA CATEGORY.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85D9-C9DD-AF51-3B60-D7E470CC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520D7-BA2A-87EC-95FB-6FCB2EAAE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CC6A658-78DD-7B9E-390E-120617C6ABF0}"/>
              </a:ext>
            </a:extLst>
          </p:cNvPr>
          <p:cNvSpPr/>
          <p:nvPr/>
        </p:nvSpPr>
        <p:spPr>
          <a:xfrm>
            <a:off x="14572280" y="22479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4AD71F-44AB-EF58-D0F4-E72756D96356}"/>
              </a:ext>
            </a:extLst>
          </p:cNvPr>
          <p:cNvSpPr txBox="1"/>
          <p:nvPr/>
        </p:nvSpPr>
        <p:spPr>
          <a:xfrm>
            <a:off x="354405" y="494211"/>
            <a:ext cx="17637893" cy="5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ctr">
              <a:lnSpc>
                <a:spcPts val="4328"/>
              </a:lnSpc>
              <a:buFont typeface="Wingdings" panose="05000000000000000000" pitchFamily="2" charset="2"/>
              <a:buChar char="q"/>
            </a:pPr>
            <a:r>
              <a:rPr lang="en-US" sz="52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Insights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820A1-9114-7E24-61AE-27AEA546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9792788"/>
            <a:ext cx="2895600" cy="151311"/>
          </a:xfrm>
        </p:spPr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A13C7-7F11-8767-0808-081086F40020}"/>
              </a:ext>
            </a:extLst>
          </p:cNvPr>
          <p:cNvSpPr txBox="1"/>
          <p:nvPr/>
        </p:nvSpPr>
        <p:spPr>
          <a:xfrm>
            <a:off x="838201" y="1562100"/>
            <a:ext cx="12877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• Large pizzas were ordered most frequently</a:t>
            </a:r>
          </a:p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• Evening hours generated maximum orders</a:t>
            </a:r>
          </a:p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• Chicken category generated highest revenue</a:t>
            </a:r>
          </a:p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increased consistently over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98BD60-F18F-12BF-0BC3-861A5AB06635}"/>
              </a:ext>
            </a:extLst>
          </p:cNvPr>
          <p:cNvSpPr txBox="1"/>
          <p:nvPr/>
        </p:nvSpPr>
        <p:spPr>
          <a:xfrm>
            <a:off x="4470751" y="5355236"/>
            <a:ext cx="9673389" cy="572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4328"/>
              </a:lnSpc>
              <a:defRPr sz="5278" b="1">
                <a:solidFill>
                  <a:srgbClr val="C25319"/>
                </a:solidFill>
                <a:latin typeface="Times New Roman Bold"/>
                <a:ea typeface="Times New Roman Bold"/>
                <a:cs typeface="Times New Roman Bold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/>
              <a:t>Challenges Faced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63A47-C116-2783-52DA-1291906D6849}"/>
              </a:ext>
            </a:extLst>
          </p:cNvPr>
          <p:cNvSpPr txBox="1"/>
          <p:nvPr/>
        </p:nvSpPr>
        <p:spPr>
          <a:xfrm>
            <a:off x="990600" y="6438900"/>
            <a:ext cx="91520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• Writing complex JOIN queries</a:t>
            </a:r>
          </a:p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Understanding aggregate functions</a:t>
            </a:r>
          </a:p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calculation and grouping</a:t>
            </a:r>
          </a:p>
        </p:txBody>
      </p:sp>
    </p:spTree>
    <p:extLst>
      <p:ext uri="{BB962C8B-B14F-4D97-AF65-F5344CB8AC3E}">
        <p14:creationId xmlns:p14="http://schemas.microsoft.com/office/powerpoint/2010/main" val="3022081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C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DAC6E-5813-AAC5-816B-6F20AB41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17665BBC-D76C-F848-54A9-5DC846AAABDE}"/>
              </a:ext>
            </a:extLst>
          </p:cNvPr>
          <p:cNvSpPr/>
          <p:nvPr/>
        </p:nvSpPr>
        <p:spPr>
          <a:xfrm>
            <a:off x="14572280" y="2247900"/>
            <a:ext cx="3715720" cy="7159526"/>
          </a:xfrm>
          <a:custGeom>
            <a:avLst/>
            <a:gdLst/>
            <a:ahLst/>
            <a:cxnLst/>
            <a:rect l="l" t="t" r="r" b="b"/>
            <a:pathLst>
              <a:path w="7437952" h="7159526">
                <a:moveTo>
                  <a:pt x="0" y="0"/>
                </a:moveTo>
                <a:lnTo>
                  <a:pt x="7437952" y="0"/>
                </a:lnTo>
                <a:lnTo>
                  <a:pt x="7437952" y="7159526"/>
                </a:lnTo>
                <a:lnTo>
                  <a:pt x="0" y="715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01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1158B91-A9CF-437C-F243-740F31F8A196}"/>
              </a:ext>
            </a:extLst>
          </p:cNvPr>
          <p:cNvSpPr txBox="1"/>
          <p:nvPr/>
        </p:nvSpPr>
        <p:spPr>
          <a:xfrm>
            <a:off x="354405" y="494211"/>
            <a:ext cx="17637893" cy="591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ctr">
              <a:lnSpc>
                <a:spcPts val="4328"/>
              </a:lnSpc>
              <a:buFont typeface="Wingdings" panose="05000000000000000000" pitchFamily="2" charset="2"/>
              <a:buChar char="q"/>
            </a:pPr>
            <a:r>
              <a:rPr lang="en-US" sz="5278" b="1">
                <a:solidFill>
                  <a:srgbClr val="C25319"/>
                </a:solidFill>
                <a:latin typeface="Times New Roman Bold"/>
                <a:cs typeface="Times New Roman Bold"/>
              </a:rPr>
              <a:t>Conclusion</a:t>
            </a:r>
            <a:endParaRPr lang="en-US" sz="5278" b="1">
              <a:solidFill>
                <a:srgbClr val="C25319"/>
              </a:solidFill>
              <a:latin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202A8-C7ED-9B22-1C67-D28C9E89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9792788"/>
            <a:ext cx="2895600" cy="151311"/>
          </a:xfrm>
        </p:spPr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99BD2-6960-20AC-F2E2-E12D187697EA}"/>
              </a:ext>
            </a:extLst>
          </p:cNvPr>
          <p:cNvSpPr txBox="1"/>
          <p:nvPr/>
        </p:nvSpPr>
        <p:spPr>
          <a:xfrm>
            <a:off x="838201" y="1943100"/>
            <a:ext cx="126491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practical SQL skills including data analysis, joins, grouping, and business insight generation.</a:t>
            </a:r>
          </a:p>
        </p:txBody>
      </p:sp>
    </p:spTree>
    <p:extLst>
      <p:ext uri="{BB962C8B-B14F-4D97-AF65-F5344CB8AC3E}">
        <p14:creationId xmlns:p14="http://schemas.microsoft.com/office/powerpoint/2010/main" val="4215332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3F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92289" y="1866900"/>
            <a:ext cx="11742912" cy="5275237"/>
            <a:chOff x="0" y="0"/>
            <a:chExt cx="828532" cy="278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532" cy="278229"/>
            </a:xfrm>
            <a:custGeom>
              <a:avLst/>
              <a:gdLst/>
              <a:ahLst/>
              <a:cxnLst/>
              <a:rect l="l" t="t" r="r" b="b"/>
              <a:pathLst>
                <a:path w="828532" h="278229">
                  <a:moveTo>
                    <a:pt x="57235" y="0"/>
                  </a:moveTo>
                  <a:lnTo>
                    <a:pt x="771298" y="0"/>
                  </a:lnTo>
                  <a:cubicBezTo>
                    <a:pt x="802907" y="0"/>
                    <a:pt x="828532" y="25625"/>
                    <a:pt x="828532" y="57235"/>
                  </a:cubicBezTo>
                  <a:lnTo>
                    <a:pt x="828532" y="220994"/>
                  </a:lnTo>
                  <a:cubicBezTo>
                    <a:pt x="828532" y="236173"/>
                    <a:pt x="822502" y="250731"/>
                    <a:pt x="811769" y="261465"/>
                  </a:cubicBezTo>
                  <a:cubicBezTo>
                    <a:pt x="801035" y="272198"/>
                    <a:pt x="786477" y="278229"/>
                    <a:pt x="771298" y="278229"/>
                  </a:cubicBezTo>
                  <a:lnTo>
                    <a:pt x="57235" y="278229"/>
                  </a:lnTo>
                  <a:cubicBezTo>
                    <a:pt x="42055" y="278229"/>
                    <a:pt x="27497" y="272198"/>
                    <a:pt x="16764" y="261465"/>
                  </a:cubicBezTo>
                  <a:cubicBezTo>
                    <a:pt x="6030" y="250731"/>
                    <a:pt x="0" y="236173"/>
                    <a:pt x="0" y="220994"/>
                  </a:cubicBezTo>
                  <a:lnTo>
                    <a:pt x="0" y="57235"/>
                  </a:lnTo>
                  <a:cubicBezTo>
                    <a:pt x="0" y="42055"/>
                    <a:pt x="6030" y="27497"/>
                    <a:pt x="16764" y="16764"/>
                  </a:cubicBezTo>
                  <a:cubicBezTo>
                    <a:pt x="27497" y="6030"/>
                    <a:pt x="42055" y="0"/>
                    <a:pt x="57235" y="0"/>
                  </a:cubicBezTo>
                  <a:close/>
                </a:path>
              </a:pathLst>
            </a:custGeom>
            <a:solidFill>
              <a:srgbClr val="F6E5C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28532" cy="33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92288" y="2715938"/>
            <a:ext cx="11903423" cy="196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93"/>
              </a:lnSpc>
            </a:pPr>
            <a:r>
              <a:rPr lang="en-US" sz="10000" b="1">
                <a:solidFill>
                  <a:srgbClr val="E63F02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THANK YOU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90160" y="5143500"/>
            <a:ext cx="4170206" cy="3780987"/>
          </a:xfrm>
          <a:custGeom>
            <a:avLst/>
            <a:gdLst/>
            <a:ahLst/>
            <a:cxnLst/>
            <a:rect l="l" t="t" r="r" b="b"/>
            <a:pathLst>
              <a:path w="4170206" h="3780987">
                <a:moveTo>
                  <a:pt x="0" y="0"/>
                </a:moveTo>
                <a:lnTo>
                  <a:pt x="4170206" y="0"/>
                </a:lnTo>
                <a:lnTo>
                  <a:pt x="4170206" y="3780987"/>
                </a:lnTo>
                <a:lnTo>
                  <a:pt x="0" y="37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2380916" y="5143500"/>
            <a:ext cx="4170206" cy="3780987"/>
          </a:xfrm>
          <a:custGeom>
            <a:avLst/>
            <a:gdLst/>
            <a:ahLst/>
            <a:cxnLst/>
            <a:rect l="l" t="t" r="r" b="b"/>
            <a:pathLst>
              <a:path w="4170206" h="3780987">
                <a:moveTo>
                  <a:pt x="4170206" y="0"/>
                </a:moveTo>
                <a:lnTo>
                  <a:pt x="0" y="0"/>
                </a:lnTo>
                <a:lnTo>
                  <a:pt x="0" y="3780987"/>
                </a:lnTo>
                <a:lnTo>
                  <a:pt x="4170206" y="3780987"/>
                </a:lnTo>
                <a:lnTo>
                  <a:pt x="417020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F333A5C-1B6A-AEA6-04DB-6AE07810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Divyani Patil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2FEE84-6367-08B6-84E5-5674D69F785F}"/>
              </a:ext>
            </a:extLst>
          </p:cNvPr>
          <p:cNvSpPr txBox="1"/>
          <p:nvPr/>
        </p:nvSpPr>
        <p:spPr>
          <a:xfrm>
            <a:off x="4572000" y="4679829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/>
              <a:t>LinkedIn:linkedin.com/in/divyanipatil</a:t>
            </a:r>
          </a:p>
          <a:p>
            <a:pPr algn="just"/>
            <a:r>
              <a:rPr lang="en-US" sz="3600"/>
              <a:t>GitHub:https://github.com/divyanipatil093</a:t>
            </a:r>
          </a:p>
          <a:p>
            <a:pPr algn="just"/>
            <a:r>
              <a:rPr lang="en-US" sz="3600"/>
              <a:t>Email: divyanipatil093@gmail.com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318</Words>
  <Application>Microsoft Office PowerPoint</Application>
  <PresentationFormat>Custom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Times New Roman</vt:lpstr>
      <vt:lpstr>Wingdings</vt:lpstr>
      <vt:lpstr>Calibri</vt:lpstr>
      <vt:lpstr>Times New Roman Bold</vt:lpstr>
      <vt:lpstr>Heading Now 71-78 Bold</vt:lpstr>
      <vt:lpstr>Office Theme</vt:lpstr>
      <vt:lpstr>Pizza Hut Sales Analysis Using SQL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PizzaHut.ppt</dc:title>
  <cp:lastModifiedBy>Dell</cp:lastModifiedBy>
  <cp:revision>3</cp:revision>
  <dcterms:created xsi:type="dcterms:W3CDTF">2006-08-16T00:00:00Z</dcterms:created>
  <dcterms:modified xsi:type="dcterms:W3CDTF">2026-05-11T12:15:03Z</dcterms:modified>
  <dc:identifier>DAHJVzmPJgE</dc:identifier>
</cp:coreProperties>
</file>